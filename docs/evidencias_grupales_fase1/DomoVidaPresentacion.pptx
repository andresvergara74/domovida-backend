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Kanit Bold" panose="020B0604020202020204" charset="-34"/>
      <p:regular r:id="rId14"/>
    </p:embeddedFont>
    <p:embeddedFont>
      <p:font typeface="Kanit Light" panose="020B0604020202020204" charset="-34"/>
      <p:regular r:id="rId15"/>
    </p:embeddedFont>
    <p:embeddedFont>
      <p:font typeface="Martel Sans" panose="020B0604020202020204" charset="0"/>
      <p:regular r:id="rId16"/>
    </p:embeddedFont>
    <p:embeddedFont>
      <p:font typeface="Martel Sans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Vergara" userId="e16541f521d28cd1" providerId="LiveId" clId="{5EDFFBD6-F558-4AE1-A1AB-B3E833087119}"/>
    <pc:docChg chg="modSld">
      <pc:chgData name="Andrés Vergara" userId="e16541f521d28cd1" providerId="LiveId" clId="{5EDFFBD6-F558-4AE1-A1AB-B3E833087119}" dt="2026-09-08T18:31:24.287" v="0" actId="1076"/>
      <pc:docMkLst>
        <pc:docMk/>
      </pc:docMkLst>
      <pc:sldChg chg="modSp mod">
        <pc:chgData name="Andrés Vergara" userId="e16541f521d28cd1" providerId="LiveId" clId="{5EDFFBD6-F558-4AE1-A1AB-B3E833087119}" dt="2026-09-08T18:31:24.287" v="0" actId="1076"/>
        <pc:sldMkLst>
          <pc:docMk/>
          <pc:sldMk cId="0" sldId="263"/>
        </pc:sldMkLst>
        <pc:spChg chg="mod">
          <ac:chgData name="Andrés Vergara" userId="e16541f521d28cd1" providerId="LiveId" clId="{5EDFFBD6-F558-4AE1-A1AB-B3E833087119}" dt="2026-09-08T18:31:24.287" v="0" actId="1076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73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2326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DomoVida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97386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Plataforma IoT de Monitoreo Predictivo y Asistencia Inteligente para el Adulto Mayor en el Hogar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 guardián inteligente y silencioso para el bienestar en el hogar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Andrés Rodrigo Vergara Acevedo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 (PTY4614) · Duoc UC · Septiembre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2507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Chile Envejece. ¿Estamos Preparados?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61475" y="1757065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830242" y="1925836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32%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30242" y="2263378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Proyección de personas mayores al 2050 (INE, 2022)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813248"/>
            <a:ext cx="6296860" cy="1158280"/>
          </a:xfrm>
          <a:prstGeom prst="roundRect">
            <a:avLst>
              <a:gd name="adj" fmla="val 5890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30242" y="2982020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Brecha Crítica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0242" y="3319562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84%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cree que Chile </a:t>
            </a: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no está preparado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para el envejecimiento (UC CONFUTURO/CASEN, 2024)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4111030"/>
            <a:ext cx="6296860" cy="1158280"/>
          </a:xfrm>
          <a:prstGeom prst="roundRect">
            <a:avLst>
              <a:gd name="adj" fmla="val 5890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830242" y="4279801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Autonomía en Riesgo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30242" y="4617343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Las caídas son un factor relevante de pérdida de autonomía e independencia (MINSAL, 2017)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5408811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830242" y="5577582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Respuesta Necesaria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0242" y="5915124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DomoVida cierra la brecha entre necesidad y preparación institucional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56729"/>
            <a:ext cx="6963791" cy="39462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9740" y="2073870"/>
            <a:ext cx="3616731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¿Qué Construye DomoVida?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7919740" y="2886075"/>
            <a:ext cx="361673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Diseñar, desarrollar e implementar una plataforma IoT de monitoreo predictivo para el adulto mayor en el hogar.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69048"/>
            <a:ext cx="2661774" cy="79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3041" y="4899819"/>
            <a:ext cx="234944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1. Infraestructura IoT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43041" y="5128617"/>
            <a:ext cx="23494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Infraestructura híbrida GPS + BLE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066" y="4769048"/>
            <a:ext cx="2661873" cy="797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78632" y="4899819"/>
            <a:ext cx="234954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 Algoritmo Local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578632" y="5128617"/>
            <a:ext cx="234954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Procesamiento Python + Isolation Forest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2756" y="4769048"/>
            <a:ext cx="2661774" cy="7975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14322" y="4899819"/>
            <a:ext cx="234944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 Interoperabilidad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314322" y="5128617"/>
            <a:ext cx="234944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Estructuración de datos mediante HL7 FHIR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8347" y="4769048"/>
            <a:ext cx="2661873" cy="7975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49913" y="4899819"/>
            <a:ext cx="234954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4. Seguridad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9049913" y="5128617"/>
            <a:ext cx="234954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Security by Design y protección de datos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640387"/>
            <a:ext cx="2661774" cy="6439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43041" y="5771158"/>
            <a:ext cx="234944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5. Usabilidad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843041" y="5999956"/>
            <a:ext cx="23494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Evaluación del panel mediante Escala SUS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Scrum Individual Adaptado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3382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D45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6 Sprints · 18 Semanas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2566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3057624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Fase 1: Definición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466306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Semanas 1–6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Objetivos y alcance claros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112566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364" y="3057624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Fase 2: Desarrollo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73364" y="3466306"/>
            <a:ext cx="3244868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Semanas 7–12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Iteraciones y entregas incrementales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112566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46" y="3057624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Fase 3: Certificación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6246" y="3466306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Semanas 13–18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Verificación y entrega final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888607"/>
            <a:ext cx="10868745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9"/>
          <p:cNvSpPr/>
          <p:nvPr/>
        </p:nvSpPr>
        <p:spPr>
          <a:xfrm>
            <a:off x="667825" y="4894957"/>
            <a:ext cx="3618616" cy="1089124"/>
          </a:xfrm>
          <a:custGeom>
            <a:avLst/>
            <a:gdLst/>
            <a:ahLst/>
            <a:cxnLst/>
            <a:rect l="l" t="t" r="r" b="b"/>
            <a:pathLst>
              <a:path w="3618616" h="1089124">
                <a:moveTo>
                  <a:pt x="66156" y="0"/>
                </a:moveTo>
                <a:lnTo>
                  <a:pt x="3618616" y="0"/>
                </a:lnTo>
                <a:lnTo>
                  <a:pt x="3618616" y="1089124"/>
                </a:lnTo>
                <a:lnTo>
                  <a:pt x="66156" y="1089124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EC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0"/>
          <p:cNvSpPr/>
          <p:nvPr/>
        </p:nvSpPr>
        <p:spPr>
          <a:xfrm>
            <a:off x="856832" y="5083969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Owner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56832" y="5492651"/>
            <a:ext cx="32406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Visión y prioridades del producto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286440" y="4894957"/>
            <a:ext cx="3618715" cy="1089124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4286440" y="489495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4"/>
          <p:cNvSpPr/>
          <p:nvPr/>
        </p:nvSpPr>
        <p:spPr>
          <a:xfrm>
            <a:off x="4475447" y="5083969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Scrum Master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4475447" y="5492651"/>
            <a:ext cx="32407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Facilitación y gestión del proceso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905155" y="4894957"/>
            <a:ext cx="3618715" cy="1089124"/>
          </a:xfrm>
          <a:custGeom>
            <a:avLst/>
            <a:gdLst/>
            <a:ahLst/>
            <a:cxnLst/>
            <a:rect l="l" t="t" r="r" b="b"/>
            <a:pathLst>
              <a:path w="3618715" h="1089124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022966"/>
                </a:lnTo>
                <a:arcTo wR="66156" hR="6615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7905155" y="489495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18"/>
          <p:cNvSpPr/>
          <p:nvPr/>
        </p:nvSpPr>
        <p:spPr>
          <a:xfrm>
            <a:off x="8094162" y="5083969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Developer</a:t>
            </a:r>
            <a:endParaRPr lang="en-US" sz="1850" dirty="0"/>
          </a:p>
        </p:txBody>
      </p:sp>
      <p:sp>
        <p:nvSpPr>
          <p:cNvPr id="24" name="Text 19"/>
          <p:cNvSpPr/>
          <p:nvPr/>
        </p:nvSpPr>
        <p:spPr>
          <a:xfrm>
            <a:off x="8094162" y="5492651"/>
            <a:ext cx="32407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Implementación técnica integral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095"/>
            <a:ext cx="3593216" cy="83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Hitos Clave del Cronograma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48558" y="1596827"/>
            <a:ext cx="19050" cy="4588371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929012" y="1736725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308614" y="1596827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358371" y="1621681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1642467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1–6 · 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150963"/>
            <a:ext cx="1132157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Guías + backlog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8503" y="2455168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308614" y="2315270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358371" y="2340124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22534" y="2360910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7–9 · Desarrollo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22534" y="2869406"/>
            <a:ext cx="113215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Persistencia híbrida (SQLite3 + Supabase)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9012" y="3102967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2308614" y="2963069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2358371" y="2987923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475" y="3008709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10–12 · Desarrollo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3517205"/>
            <a:ext cx="1132157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+ FHIR, API + validaciones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8503" y="3750866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2308614" y="3610967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358371" y="3635821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122534" y="3656608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13–14 · Certificación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22534" y="4165104"/>
            <a:ext cx="113215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IoT + Frontend, Simulador + React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9012" y="4398764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2308614" y="4258866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2358371" y="4283720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1475" y="4304506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15–16 · Certificación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4813002"/>
            <a:ext cx="1132157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Locust → rendimiento/carga · SUS → usabilidad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88503" y="5131395"/>
            <a:ext cx="398651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2308614" y="4991497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358371" y="5016351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122534" y="5037138"/>
            <a:ext cx="1132157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Sem. 17–18 · Cierre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22534" y="5545634"/>
            <a:ext cx="1132157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Informe final y defensa oral</a:t>
            </a:r>
            <a:endParaRPr lang="en-US" sz="10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80" y="1459409"/>
            <a:ext cx="6951191" cy="3939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32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Alineación con el Perfil de Egreso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819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Cada competencia del perfil de egreso encuentra aplicación directa en el desarrollo de DomoVida.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96977"/>
          <a:ext cx="10868746" cy="273499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Competencia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Aplicación en DomoVida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Desarrollar soluciones de software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FastAPI · React · Arquitectura modular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Construir modelos de datos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SQLite3 + Supabase · Modelos relacionales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Realizar pruebas de certificación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Locust · HL7 FHIR · Escala SUS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Gestionar proyectos informáticos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Scrum · GitHub Projects · Git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99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Evidencias del Proyecto</a:t>
            </a:r>
            <a:endParaRPr lang="en-US" sz="3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88605"/>
          <a:ext cx="10868745" cy="283659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Fase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Entregable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Estado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Fase 1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Guías 1.1, 1.2, 1.3, 1.5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 Completado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Fase 1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Presentación y evaluación (1.4)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 Completado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Fase 2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Código en GitHub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 En desarrollo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Fase 3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Defensa final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 Pendiente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6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Intereses Personales y Motivación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9961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0833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Especialización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17019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DomoVida nace de mi interés por la salud digital y la informática biomédica, áreas en las que busco especializarme como ingeniero.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69961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40833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Impacto Social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817019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Contribuir a mejorar la calidad de vida del adulto mayor mediante tecnología accesible y no invasiva.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Innovación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Explorar soluciones que combinen IoT, edge computing e interoperabilidad en estándares de salud.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Visión Futura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Proyectar DomoVida hacia instrumentos de financiamiento (Corfo, Sercotec) y alianzas con el ecosistema de envejecimiento y salud digital.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6338"/>
            <a:ext cx="521828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Gestión de Riesgo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26170"/>
            <a:ext cx="521828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Cada riesgo identificado cuenta con una estrategia de mitigación técnica o de gestión integrada al ciclo de desarrollo.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8290" y="727075"/>
          <a:ext cx="5218281" cy="5391015"/>
        </p:xfrm>
        <a:graphic>
          <a:graphicData uri="http://schemas.openxmlformats.org/drawingml/2006/table">
            <a:tbl>
              <a:tblPr/>
              <a:tblGrid>
                <a:gridCol w="173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Riesgo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Impacto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Mitigación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1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Pérdida de conectividad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Alto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Persistencia local SQLite3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7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Fallo de sensores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Alto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Simulador IoT + pruebas independientes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Datos insuficientes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Alto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Datos simulados y escenarios controlados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Falsos positivos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Alto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Ajuste y evaluación del algoritmo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1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Alta carga académica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Medio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249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Priorización del backlog</a:t>
                      </a:r>
                      <a:endParaRPr lang="en-US" sz="13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5959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¿Por Qué DomoVida?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3360" y="1311374"/>
            <a:ext cx="3068065" cy="1533029"/>
          </a:xfrm>
          <a:prstGeom prst="roundRect">
            <a:avLst>
              <a:gd name="adj" fmla="val 477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5413934" y="1491952"/>
            <a:ext cx="27069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HL7 FHIR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13934" y="1860451"/>
            <a:ext cx="270691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Datos estructurados y preparados para interoperabilidad futura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462056" y="1311374"/>
            <a:ext cx="3068164" cy="1533029"/>
          </a:xfrm>
          <a:prstGeom prst="roundRect">
            <a:avLst>
              <a:gd name="adj" fmla="val 477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642630" y="1491952"/>
            <a:ext cx="27070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Edge Computing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42630" y="1860451"/>
            <a:ext cx="270701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Procesamiento local y continuidad ante interrupciones de conectividad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33360" y="3005038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5413934" y="3185616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Código Abierto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13934" y="3554115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Arquitectura auditable, extensible y transparente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233360" y="4183162"/>
            <a:ext cx="629686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QUIDA es la solución académica y no invasiva que cuida sin cámaras ni dispositivos.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 Tatas es la solución comercial con acompañamiento humano y central de monitoreo 24/7.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94696" y="5615682"/>
            <a:ext cx="603552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DomoVida busca complementar, no reemplazar, las soluciones existentes.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233360" y="5435005"/>
            <a:ext cx="19050" cy="896938"/>
          </a:xfrm>
          <a:prstGeom prst="roundRect">
            <a:avLst>
              <a:gd name="adj" fmla="val 4999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2507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Cierre y Proyección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249462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DomoVida es mi respuesta a cómo la tecnología puede cuidar sin molestar, anticipar sin alarmar y estar presente sin ser invasiva.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889621"/>
            <a:ext cx="406092" cy="4061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2470150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Validación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233360" y="2807692"/>
            <a:ext cx="62968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Pilotaje técnico y evaluación con usuarios en contexto controlado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28392"/>
            <a:ext cx="406092" cy="4061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3360" y="3908921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Proyección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233360" y="4246463"/>
            <a:ext cx="62968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Postulación futura a instrumentos de financiamiento como Corfo y Sercotec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767163"/>
            <a:ext cx="406092" cy="4061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33360" y="5347692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Vinculación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233360" y="5685234"/>
            <a:ext cx="62968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Explorar alianzas con actores del ecosistema de envejecimiento y salud digital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5233360" y="6083796"/>
            <a:ext cx="690644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 guardián inteligente y silencioso para el bienestar en el hogar.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730</Words>
  <Application>Microsoft Office PowerPoint</Application>
  <PresentationFormat>Panorámica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Martel Sans Bold</vt:lpstr>
      <vt:lpstr>Kanit Bold</vt:lpstr>
      <vt:lpstr>Twemoji Mozilla, Apple Color Emoji, Segoe UI Emoji, Segoe UI Symbol, Noto Color Emoji, EmojiOne Color, Android Emoji, sans-serif</vt:lpstr>
      <vt:lpstr>Arial</vt:lpstr>
      <vt:lpstr>Kanit Light</vt:lpstr>
      <vt:lpstr>Martel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Andrés Vergara</cp:lastModifiedBy>
  <cp:revision>1</cp:revision>
  <dcterms:created xsi:type="dcterms:W3CDTF">2026-09-02T17:00:24Z</dcterms:created>
  <dcterms:modified xsi:type="dcterms:W3CDTF">2026-09-08T18:31:33Z</dcterms:modified>
</cp:coreProperties>
</file>