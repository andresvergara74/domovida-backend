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8" r:id="rId5"/>
    <p:sldId id="263" r:id="rId6"/>
    <p:sldId id="261" r:id="rId7"/>
    <p:sldId id="267" r:id="rId8"/>
    <p:sldId id="259" r:id="rId9"/>
    <p:sldId id="260" r:id="rId10"/>
    <p:sldId id="262" r:id="rId11"/>
    <p:sldId id="264" r:id="rId12"/>
    <p:sldId id="265" r:id="rId13"/>
    <p:sldId id="266" r:id="rId14"/>
  </p:sldIdLst>
  <p:sldSz cx="12192000" cy="6858000"/>
  <p:notesSz cx="6858000" cy="12192000"/>
  <p:embeddedFontLst>
    <p:embeddedFont>
      <p:font typeface="Kanit Bold" panose="020B0604020202020204" charset="-34"/>
      <p:regular r:id="rId16"/>
    </p:embeddedFont>
    <p:embeddedFont>
      <p:font typeface="Kanit Light" panose="020B0604020202020204" charset="-34"/>
      <p:regular r:id="rId17"/>
    </p:embeddedFont>
    <p:embeddedFont>
      <p:font typeface="Martel Sans" panose="020B0604020202020204" charset="0"/>
      <p:regular r:id="rId18"/>
    </p:embeddedFont>
    <p:embeddedFont>
      <p:font typeface="Martel Sans Bold" panose="020B0604020202020204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s Vergara" userId="e16541f521d28cd1" providerId="LiveId" clId="{5EDFFBD6-F558-4AE1-A1AB-B3E833087119}"/>
    <pc:docChg chg="modSld">
      <pc:chgData name="Andrés Vergara" userId="e16541f521d28cd1" providerId="LiveId" clId="{5EDFFBD6-F558-4AE1-A1AB-B3E833087119}" dt="2026-09-08T18:31:24.287" v="0" actId="1076"/>
      <pc:docMkLst>
        <pc:docMk/>
      </pc:docMkLst>
      <pc:sldChg chg="modSp mod">
        <pc:chgData name="Andrés Vergara" userId="e16541f521d28cd1" providerId="LiveId" clId="{5EDFFBD6-F558-4AE1-A1AB-B3E833087119}" dt="2026-09-08T18:31:24.287" v="0" actId="1076"/>
        <pc:sldMkLst>
          <pc:docMk/>
          <pc:sldMk cId="0" sldId="263"/>
        </pc:sldMkLst>
        <pc:spChg chg="mod">
          <ac:chgData name="Andrés Vergara" userId="e16541f521d28cd1" providerId="LiveId" clId="{5EDFFBD6-F558-4AE1-A1AB-B3E833087119}" dt="2026-09-08T18:31:24.287" v="0" actId="1076"/>
          <ac:spMkLst>
            <pc:docMk/>
            <pc:sldMk cId="0" sldId="263"/>
            <ac:spMk id="2" creationId="{00000000-0000-0000-0000-000000000000}"/>
          </ac:spMkLst>
        </pc:spChg>
      </pc:sldChg>
    </pc:docChg>
  </pc:docChgLst>
  <pc:docChgLst>
    <pc:chgData name="Andres Rodrigo Vergara Acevedo" userId="96268283-c83c-4368-b01b-208e7df24e8f" providerId="ADAL" clId="{5EDFFBD6-F558-4AE1-A1AB-B3E833087119}"/>
    <pc:docChg chg="custSel addSld modSld sldOrd">
      <pc:chgData name="Andres Rodrigo Vergara Acevedo" userId="96268283-c83c-4368-b01b-208e7df24e8f" providerId="ADAL" clId="{5EDFFBD6-F558-4AE1-A1AB-B3E833087119}" dt="2026-09-16T17:53:20.648" v="94" actId="20577"/>
      <pc:docMkLst>
        <pc:docMk/>
      </pc:docMkLst>
      <pc:sldChg chg="modSp mod">
        <pc:chgData name="Andres Rodrigo Vergara Acevedo" userId="96268283-c83c-4368-b01b-208e7df24e8f" providerId="ADAL" clId="{5EDFFBD6-F558-4AE1-A1AB-B3E833087119}" dt="2026-09-16T17:53:20.648" v="94" actId="20577"/>
        <pc:sldMkLst>
          <pc:docMk/>
          <pc:sldMk cId="0" sldId="258"/>
        </pc:sldMkLst>
        <pc:spChg chg="mod">
          <ac:chgData name="Andres Rodrigo Vergara Acevedo" userId="96268283-c83c-4368-b01b-208e7df24e8f" providerId="ADAL" clId="{5EDFFBD6-F558-4AE1-A1AB-B3E833087119}" dt="2026-09-16T17:39:24.088" v="13" actId="5793"/>
          <ac:spMkLst>
            <pc:docMk/>
            <pc:sldMk cId="0" sldId="258"/>
            <ac:spMk id="3" creationId="{00000000-0000-0000-0000-000000000000}"/>
          </ac:spMkLst>
        </pc:spChg>
        <pc:spChg chg="mod">
          <ac:chgData name="Andres Rodrigo Vergara Acevedo" userId="96268283-c83c-4368-b01b-208e7df24e8f" providerId="ADAL" clId="{5EDFFBD6-F558-4AE1-A1AB-B3E833087119}" dt="2026-09-16T17:53:20.648" v="94" actId="20577"/>
          <ac:spMkLst>
            <pc:docMk/>
            <pc:sldMk cId="0" sldId="258"/>
            <ac:spMk id="4" creationId="{00000000-0000-0000-0000-000000000000}"/>
          </ac:spMkLst>
        </pc:spChg>
      </pc:sldChg>
      <pc:sldChg chg="ord">
        <pc:chgData name="Andres Rodrigo Vergara Acevedo" userId="96268283-c83c-4368-b01b-208e7df24e8f" providerId="ADAL" clId="{5EDFFBD6-F558-4AE1-A1AB-B3E833087119}" dt="2026-09-16T17:39:35.733" v="15"/>
        <pc:sldMkLst>
          <pc:docMk/>
          <pc:sldMk cId="0" sldId="259"/>
        </pc:sldMkLst>
      </pc:sldChg>
      <pc:sldChg chg="ord">
        <pc:chgData name="Andres Rodrigo Vergara Acevedo" userId="96268283-c83c-4368-b01b-208e7df24e8f" providerId="ADAL" clId="{5EDFFBD6-F558-4AE1-A1AB-B3E833087119}" dt="2026-09-16T17:39:56.109" v="17"/>
        <pc:sldMkLst>
          <pc:docMk/>
          <pc:sldMk cId="0" sldId="261"/>
        </pc:sldMkLst>
      </pc:sldChg>
      <pc:sldChg chg="ord">
        <pc:chgData name="Andres Rodrigo Vergara Acevedo" userId="96268283-c83c-4368-b01b-208e7df24e8f" providerId="ADAL" clId="{5EDFFBD6-F558-4AE1-A1AB-B3E833087119}" dt="2026-09-16T17:38:57.655" v="3"/>
        <pc:sldMkLst>
          <pc:docMk/>
          <pc:sldMk cId="0" sldId="263"/>
        </pc:sldMkLst>
      </pc:sldChg>
      <pc:sldChg chg="addSp modSp new mod">
        <pc:chgData name="Andres Rodrigo Vergara Acevedo" userId="96268283-c83c-4368-b01b-208e7df24e8f" providerId="ADAL" clId="{5EDFFBD6-F558-4AE1-A1AB-B3E833087119}" dt="2026-09-16T17:40:36.124" v="37" actId="20577"/>
        <pc:sldMkLst>
          <pc:docMk/>
          <pc:sldMk cId="1384470614" sldId="267"/>
        </pc:sldMkLst>
        <pc:spChg chg="add mod">
          <ac:chgData name="Andres Rodrigo Vergara Acevedo" userId="96268283-c83c-4368-b01b-208e7df24e8f" providerId="ADAL" clId="{5EDFFBD6-F558-4AE1-A1AB-B3E833087119}" dt="2026-09-16T17:40:36.124" v="37" actId="20577"/>
          <ac:spMkLst>
            <pc:docMk/>
            <pc:sldMk cId="1384470614" sldId="267"/>
            <ac:spMk id="2" creationId="{BFF8F27B-3972-2521-0E02-1C383E5DFC8F}"/>
          </ac:spMkLst>
        </pc:spChg>
      </pc:sldChg>
      <pc:sldChg chg="addSp modSp new mod">
        <pc:chgData name="Andres Rodrigo Vergara Acevedo" userId="96268283-c83c-4368-b01b-208e7df24e8f" providerId="ADAL" clId="{5EDFFBD6-F558-4AE1-A1AB-B3E833087119}" dt="2026-09-16T17:42:59.616" v="82" actId="20577"/>
        <pc:sldMkLst>
          <pc:docMk/>
          <pc:sldMk cId="2331941950" sldId="268"/>
        </pc:sldMkLst>
        <pc:spChg chg="add mod">
          <ac:chgData name="Andres Rodrigo Vergara Acevedo" userId="96268283-c83c-4368-b01b-208e7df24e8f" providerId="ADAL" clId="{5EDFFBD6-F558-4AE1-A1AB-B3E833087119}" dt="2026-09-16T17:42:59.616" v="82" actId="20577"/>
          <ac:spMkLst>
            <pc:docMk/>
            <pc:sldMk cId="2331941950" sldId="268"/>
            <ac:spMk id="2" creationId="{9F1072E9-57F5-E609-E202-A62894E4114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731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4F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023269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DomoVida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897386"/>
            <a:ext cx="6296860" cy="19373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i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Plataforma IoT de Monitoreo Predictivo y Asistencia Inteligente para el Adulto Mayor en el Hogar</a:t>
            </a:r>
            <a:endParaRPr lang="en-US" sz="1450" dirty="0"/>
          </a:p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Un guardián inteligente y silencioso para el bienestar en el hogar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Andrés Rodrigo Vergara Acevedo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Capstone (PTY4614) · Duoc UC · Septiembre 2026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532507"/>
            <a:ext cx="6296860" cy="101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Chile Envejece. ¿Estamos Preparados?</a:t>
            </a:r>
            <a:endParaRPr lang="en-US" sz="3150" dirty="0"/>
          </a:p>
        </p:txBody>
      </p:sp>
      <p:sp>
        <p:nvSpPr>
          <p:cNvPr id="4" name="Shape 1"/>
          <p:cNvSpPr/>
          <p:nvPr/>
        </p:nvSpPr>
        <p:spPr>
          <a:xfrm>
            <a:off x="661475" y="1757065"/>
            <a:ext cx="6296860" cy="916682"/>
          </a:xfrm>
          <a:prstGeom prst="roundRect">
            <a:avLst>
              <a:gd name="adj" fmla="val 7442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830242" y="1925836"/>
            <a:ext cx="5959326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437066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32%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830242" y="2263378"/>
            <a:ext cx="5959326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Proyección de personas mayores al 2050 (INE, 2022)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2813248"/>
            <a:ext cx="6296860" cy="1158280"/>
          </a:xfrm>
          <a:prstGeom prst="roundRect">
            <a:avLst>
              <a:gd name="adj" fmla="val 5890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830242" y="2982020"/>
            <a:ext cx="5959326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Brecha Crítica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30242" y="3319562"/>
            <a:ext cx="5959326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84%</a:t>
            </a: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cree que Chile </a:t>
            </a:r>
            <a:r>
              <a:rPr lang="en-US" sz="12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no está preparado</a:t>
            </a: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para el envejecimiento (UC CONFUTURO/CASEN, 2024)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1475" y="4111030"/>
            <a:ext cx="6296860" cy="1158280"/>
          </a:xfrm>
          <a:prstGeom prst="roundRect">
            <a:avLst>
              <a:gd name="adj" fmla="val 5890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8"/>
          <p:cNvSpPr/>
          <p:nvPr/>
        </p:nvSpPr>
        <p:spPr>
          <a:xfrm>
            <a:off x="830242" y="4279801"/>
            <a:ext cx="5959326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Autonomía en Riesgo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30242" y="4617343"/>
            <a:ext cx="5959326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Las caídas son un factor relevante de pérdida de autonomía e independencia (MINSAL, 2017)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1475" y="5408811"/>
            <a:ext cx="6296860" cy="916682"/>
          </a:xfrm>
          <a:prstGeom prst="roundRect">
            <a:avLst>
              <a:gd name="adj" fmla="val 7442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1"/>
          <p:cNvSpPr/>
          <p:nvPr/>
        </p:nvSpPr>
        <p:spPr>
          <a:xfrm>
            <a:off x="830242" y="5577582"/>
            <a:ext cx="5959326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Respuesta Necesaria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30242" y="5915124"/>
            <a:ext cx="5959326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DomoVida cierra la brecha entre necesidad y preparación institucional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656729"/>
            <a:ext cx="6963791" cy="39462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19740" y="2073870"/>
            <a:ext cx="3616731" cy="738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¿</a:t>
            </a:r>
            <a:r>
              <a:rPr lang="en-US" sz="2300" dirty="0" err="1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Solucion</a:t>
            </a:r>
            <a:r>
              <a:rPr lang="en-US" sz="2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</a:t>
            </a:r>
            <a:r>
              <a:rPr lang="en-US" sz="2300" dirty="0" err="1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DomoVida</a:t>
            </a:r>
            <a:r>
              <a:rPr lang="en-US" sz="2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?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7919740" y="2886075"/>
            <a:ext cx="3616731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Diseñar, </a:t>
            </a:r>
            <a:r>
              <a:rPr lang="en-US" sz="9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construir</a:t>
            </a: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e implementar una plataforma IoT de monitoreo predictivo para el adulto mayor en el hogar.</a:t>
            </a:r>
            <a:endParaRPr lang="en-US" sz="9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769048"/>
            <a:ext cx="2661774" cy="7975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43041" y="4899819"/>
            <a:ext cx="234944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1. Infraestructura IoT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843041" y="5128617"/>
            <a:ext cx="2349441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Infraestructura híbrida GPS + BLE</a:t>
            </a:r>
            <a:endParaRPr lang="en-US" sz="9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7066" y="4769048"/>
            <a:ext cx="2661873" cy="7975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578632" y="4899819"/>
            <a:ext cx="2349540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2. Algoritmo Local</a:t>
            </a:r>
            <a:endParaRPr lang="en-US" sz="1150" dirty="0"/>
          </a:p>
        </p:txBody>
      </p:sp>
      <p:sp>
        <p:nvSpPr>
          <p:cNvPr id="10" name="Text 5"/>
          <p:cNvSpPr/>
          <p:nvPr/>
        </p:nvSpPr>
        <p:spPr>
          <a:xfrm>
            <a:off x="3578632" y="5128617"/>
            <a:ext cx="2349540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Procesamiento Python + Isolation Forest</a:t>
            </a:r>
            <a:endParaRPr lang="en-US" sz="9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2756" y="4769048"/>
            <a:ext cx="2661774" cy="7975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14322" y="4899819"/>
            <a:ext cx="234944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3. Interoperabilidad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6314322" y="5128617"/>
            <a:ext cx="2349441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Estructuración de datos mediante HL7 FHIR</a:t>
            </a:r>
            <a:endParaRPr lang="en-US" sz="9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68347" y="4769048"/>
            <a:ext cx="2661873" cy="79752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49913" y="4899819"/>
            <a:ext cx="2349540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4. Seguridad</a:t>
            </a:r>
            <a:endParaRPr lang="en-US" sz="1150" dirty="0"/>
          </a:p>
        </p:txBody>
      </p:sp>
      <p:sp>
        <p:nvSpPr>
          <p:cNvPr id="16" name="Text 9"/>
          <p:cNvSpPr/>
          <p:nvPr/>
        </p:nvSpPr>
        <p:spPr>
          <a:xfrm>
            <a:off x="9049913" y="5128617"/>
            <a:ext cx="2349540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Security by Design y protección de datos</a:t>
            </a:r>
            <a:endParaRPr lang="en-US" sz="9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5640387"/>
            <a:ext cx="2661774" cy="64393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43041" y="5771158"/>
            <a:ext cx="234944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5. Usabilidad</a:t>
            </a:r>
            <a:endParaRPr lang="en-US" sz="1150" dirty="0"/>
          </a:p>
        </p:txBody>
      </p:sp>
      <p:sp>
        <p:nvSpPr>
          <p:cNvPr id="19" name="Text 11"/>
          <p:cNvSpPr/>
          <p:nvPr/>
        </p:nvSpPr>
        <p:spPr>
          <a:xfrm>
            <a:off x="843041" y="5999956"/>
            <a:ext cx="2349441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Evaluación del panel mediante Escala SUS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F1072E9-57F5-E609-E202-A62894E41146}"/>
              </a:ext>
            </a:extLst>
          </p:cNvPr>
          <p:cNvSpPr txBox="1"/>
          <p:nvPr/>
        </p:nvSpPr>
        <p:spPr>
          <a:xfrm>
            <a:off x="2108718" y="1045029"/>
            <a:ext cx="5495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Diseño o maqueta de lo quieres o visualizas</a:t>
            </a:r>
          </a:p>
        </p:txBody>
      </p:sp>
    </p:spTree>
    <p:extLst>
      <p:ext uri="{BB962C8B-B14F-4D97-AF65-F5344CB8AC3E}">
        <p14:creationId xmlns:p14="http://schemas.microsoft.com/office/powerpoint/2010/main" val="23319419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2463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Intereses Personales y Motivación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699617"/>
            <a:ext cx="472468" cy="472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2408337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Especialización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2817019"/>
            <a:ext cx="531620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DomoVida nace de mi interés por la salud digital y la informática biomédica, áreas en las que busco especializarme como ingeniero.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3915" y="1699617"/>
            <a:ext cx="472468" cy="472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13915" y="2408337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Impacto Social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213915" y="2817019"/>
            <a:ext cx="53163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Contribuir a mejorar la calidad de vida del adulto mayor mediante tecnología accesible y no invasiva.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4102298"/>
            <a:ext cx="472468" cy="472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1475" y="4811018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Innovación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661475" y="5219700"/>
            <a:ext cx="53162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Explorar soluciones que combinen IoT, edge computing e interoperabilidad en estándares de salud.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13915" y="4102298"/>
            <a:ext cx="472468" cy="4724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213915" y="4811018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Visión Futura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6213915" y="5219700"/>
            <a:ext cx="531630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Proyectar DomoVida hacia instrumentos de financiamiento (Corfo, Sercotec) y alianzas con el ecosistema de envejecimiento y salud digital.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1325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Alineación con el Perfil de Egreso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281932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Cada competencia del perfil de egreso encuentra aplicación directa en el desarrollo de DomoVida.</a:t>
            </a:r>
            <a:endParaRPr lang="en-US" sz="14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796977"/>
          <a:ext cx="10868746" cy="2734995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50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Competencia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Aplicación en DomoVida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Desarrollar soluciones de software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FastAPI · React · Arquitectura modular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Construir modelos de datos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SQLite3 + Supabase · Modelos relacionales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Realizar pruebas de certificación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Locust · HL7 FHIR · Escala SUS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50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Gestionar proyectos informáticos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Scrum · GitHub Projects · Git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FF8F27B-3972-2521-0E02-1C383E5DFC8F}"/>
              </a:ext>
            </a:extLst>
          </p:cNvPr>
          <p:cNvSpPr txBox="1"/>
          <p:nvPr/>
        </p:nvSpPr>
        <p:spPr>
          <a:xfrm>
            <a:off x="2724539" y="1343608"/>
            <a:ext cx="5029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Factibilidad</a:t>
            </a:r>
          </a:p>
          <a:p>
            <a:endParaRPr lang="es-CL" dirty="0"/>
          </a:p>
          <a:p>
            <a:r>
              <a:rPr lang="es-CL" dirty="0"/>
              <a:t>FODA</a:t>
            </a:r>
          </a:p>
        </p:txBody>
      </p:sp>
    </p:spTree>
    <p:extLst>
      <p:ext uri="{BB962C8B-B14F-4D97-AF65-F5344CB8AC3E}">
        <p14:creationId xmlns:p14="http://schemas.microsoft.com/office/powerpoint/2010/main" val="1384470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6756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Scrum Individual Adaptado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533823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272D45"/>
                </a:solidFill>
                <a:latin typeface="Kanit Bold" pitchFamily="34" charset="0"/>
                <a:ea typeface="Kanit Bold" pitchFamily="34" charset="-122"/>
                <a:cs typeface="Kanit Bold" pitchFamily="34" charset="-120"/>
              </a:rPr>
              <a:t>6 Sprints · 18 Semanas</a:t>
            </a:r>
            <a:endParaRPr lang="en-US" sz="18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2566"/>
            <a:ext cx="3622882" cy="7560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482" y="3057624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Fase 1: Definición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850482" y="3466306"/>
            <a:ext cx="3244868" cy="718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Semanas 1–6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Objetivos y alcance claros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57" y="2112566"/>
            <a:ext cx="3622882" cy="7560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73364" y="3057624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Fase 2: Desarrollo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4473364" y="3466306"/>
            <a:ext cx="3244868" cy="1020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Semanas 7–12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Iteraciones y entregas incrementales</a:t>
            </a:r>
            <a:endParaRPr lang="en-US" sz="14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7239" y="2112566"/>
            <a:ext cx="3622882" cy="75604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96246" y="3057624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Fase 3: Certificación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8096246" y="3466306"/>
            <a:ext cx="3244868" cy="718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Semanas 13–18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Verificación y entrega final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61475" y="4888607"/>
            <a:ext cx="10868745" cy="1101824"/>
          </a:xfrm>
          <a:prstGeom prst="roundRect">
            <a:avLst>
              <a:gd name="adj" fmla="val 7205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Shape 9"/>
          <p:cNvSpPr/>
          <p:nvPr/>
        </p:nvSpPr>
        <p:spPr>
          <a:xfrm>
            <a:off x="667825" y="4894957"/>
            <a:ext cx="3618616" cy="1089124"/>
          </a:xfrm>
          <a:custGeom>
            <a:avLst/>
            <a:gdLst/>
            <a:ahLst/>
            <a:cxnLst/>
            <a:rect l="l" t="t" r="r" b="b"/>
            <a:pathLst>
              <a:path w="3618616" h="1089124">
                <a:moveTo>
                  <a:pt x="66156" y="0"/>
                </a:moveTo>
                <a:lnTo>
                  <a:pt x="3618616" y="0"/>
                </a:lnTo>
                <a:lnTo>
                  <a:pt x="3618616" y="1089124"/>
                </a:lnTo>
                <a:lnTo>
                  <a:pt x="66156" y="1089124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DFEC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0"/>
          <p:cNvSpPr/>
          <p:nvPr/>
        </p:nvSpPr>
        <p:spPr>
          <a:xfrm>
            <a:off x="856832" y="5083969"/>
            <a:ext cx="32406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Product Owner</a:t>
            </a:r>
            <a:endParaRPr lang="en-US" sz="1850" dirty="0"/>
          </a:p>
        </p:txBody>
      </p:sp>
      <p:sp>
        <p:nvSpPr>
          <p:cNvPr id="16" name="Text 11"/>
          <p:cNvSpPr/>
          <p:nvPr/>
        </p:nvSpPr>
        <p:spPr>
          <a:xfrm>
            <a:off x="856832" y="5492651"/>
            <a:ext cx="3240602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Visión y prioridades del producto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4286440" y="4894957"/>
            <a:ext cx="3618715" cy="1089124"/>
          </a:xfrm>
          <a:prstGeom prst="rect">
            <a:avLst/>
          </a:prstGeom>
          <a:solidFill>
            <a:srgbClr val="DFEC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Shape 13"/>
          <p:cNvSpPr/>
          <p:nvPr/>
        </p:nvSpPr>
        <p:spPr>
          <a:xfrm>
            <a:off x="4286440" y="4894957"/>
            <a:ext cx="25399" cy="1089124"/>
          </a:xfrm>
          <a:prstGeom prst="roundRect">
            <a:avLst>
              <a:gd name="adj" fmla="val 50001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Text 14"/>
          <p:cNvSpPr/>
          <p:nvPr/>
        </p:nvSpPr>
        <p:spPr>
          <a:xfrm>
            <a:off x="4475447" y="5083969"/>
            <a:ext cx="324070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Scrum Master</a:t>
            </a:r>
            <a:endParaRPr lang="en-US" sz="1850" dirty="0"/>
          </a:p>
        </p:txBody>
      </p:sp>
      <p:sp>
        <p:nvSpPr>
          <p:cNvPr id="20" name="Text 15"/>
          <p:cNvSpPr/>
          <p:nvPr/>
        </p:nvSpPr>
        <p:spPr>
          <a:xfrm>
            <a:off x="4475447" y="5492651"/>
            <a:ext cx="3240701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Facilitación y gestión del proceso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7905155" y="4894957"/>
            <a:ext cx="3618715" cy="1089124"/>
          </a:xfrm>
          <a:custGeom>
            <a:avLst/>
            <a:gdLst/>
            <a:ahLst/>
            <a:cxnLst/>
            <a:rect l="l" t="t" r="r" b="b"/>
            <a:pathLst>
              <a:path w="3618715" h="1089124">
                <a:moveTo>
                  <a:pt x="0" y="0"/>
                </a:moveTo>
                <a:lnTo>
                  <a:pt x="3552558" y="0"/>
                </a:lnTo>
                <a:arcTo wR="66156" hR="66158" stAng="16200000" swAng="5400000"/>
                <a:lnTo>
                  <a:pt x="3618715" y="1022966"/>
                </a:lnTo>
                <a:arcTo wR="66156" hR="66158" stAng="0" swAng="5400000"/>
                <a:lnTo>
                  <a:pt x="0" y="1089124"/>
                </a:lnTo>
                <a:lnTo>
                  <a:pt x="0" y="0"/>
                </a:lnTo>
                <a:close/>
              </a:path>
            </a:pathLst>
          </a:custGeom>
          <a:solidFill>
            <a:srgbClr val="DFEC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Shape 17"/>
          <p:cNvSpPr/>
          <p:nvPr/>
        </p:nvSpPr>
        <p:spPr>
          <a:xfrm>
            <a:off x="7905155" y="4894957"/>
            <a:ext cx="25399" cy="1089124"/>
          </a:xfrm>
          <a:prstGeom prst="roundRect">
            <a:avLst>
              <a:gd name="adj" fmla="val 50001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3" name="Text 18"/>
          <p:cNvSpPr/>
          <p:nvPr/>
        </p:nvSpPr>
        <p:spPr>
          <a:xfrm>
            <a:off x="8094162" y="5083969"/>
            <a:ext cx="324070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Developer</a:t>
            </a:r>
            <a:endParaRPr lang="en-US" sz="1850" dirty="0"/>
          </a:p>
        </p:txBody>
      </p:sp>
      <p:sp>
        <p:nvSpPr>
          <p:cNvPr id="24" name="Text 19"/>
          <p:cNvSpPr/>
          <p:nvPr/>
        </p:nvSpPr>
        <p:spPr>
          <a:xfrm>
            <a:off x="8094162" y="5492651"/>
            <a:ext cx="3240701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Implementación técnica integral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61095"/>
            <a:ext cx="3593216" cy="8306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Hitos Clave del Cronograma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448558" y="1596827"/>
            <a:ext cx="19050" cy="4588371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1929012" y="1736725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2308614" y="1596827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2358371" y="1621681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61475" y="1642467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1–6 · Definición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475" y="2150963"/>
            <a:ext cx="1132157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Guías + backlog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88503" y="2455168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2308614" y="2315270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2358371" y="2340124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122534" y="2360910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7–9 · Desarrollo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22534" y="2869406"/>
            <a:ext cx="1132157" cy="543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Persistencia híbrida (SQLite3 + Supabase)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9012" y="3102967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2308614" y="2963069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2358371" y="2987923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61475" y="3008709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10–12 · Desarrollo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1475" y="3517205"/>
            <a:ext cx="1132157" cy="3621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Backend + FHIR, API + validaciones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88503" y="3750866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Shape 18"/>
          <p:cNvSpPr/>
          <p:nvPr/>
        </p:nvSpPr>
        <p:spPr>
          <a:xfrm>
            <a:off x="2308614" y="3610967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/>
          <p:nvPr/>
        </p:nvSpPr>
        <p:spPr>
          <a:xfrm>
            <a:off x="2358371" y="3635821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122534" y="3656608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13–14 · Certificación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122534" y="4165104"/>
            <a:ext cx="1132157" cy="543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IoT + Frontend, Simulador + React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929012" y="4398764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Shape 23"/>
          <p:cNvSpPr/>
          <p:nvPr/>
        </p:nvSpPr>
        <p:spPr>
          <a:xfrm>
            <a:off x="2308614" y="4258866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2358371" y="4283720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5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61475" y="4304506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15–16 · Certificación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1475" y="4813002"/>
            <a:ext cx="1132157" cy="724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Locust → rendimiento/carga · SUS → usabilidad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88503" y="5131395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0" name="Shape 28"/>
          <p:cNvSpPr/>
          <p:nvPr/>
        </p:nvSpPr>
        <p:spPr>
          <a:xfrm>
            <a:off x="2308614" y="4991497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9"/>
          <p:cNvSpPr/>
          <p:nvPr/>
        </p:nvSpPr>
        <p:spPr>
          <a:xfrm>
            <a:off x="2358371" y="5016351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6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3122534" y="5037138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17–18 · Cierre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122534" y="5545634"/>
            <a:ext cx="1132157" cy="3621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Informe final y defensa oral</a:t>
            </a:r>
            <a:endParaRPr lang="en-US" sz="1000" dirty="0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280" y="1459409"/>
            <a:ext cx="6951191" cy="39390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1993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Evidencias del Proyecto</a:t>
            </a:r>
            <a:endParaRPr lang="en-US" sz="3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488605"/>
          <a:ext cx="10868745" cy="2836592"/>
        </p:xfrm>
        <a:graphic>
          <a:graphicData uri="http://schemas.openxmlformats.org/drawingml/2006/table">
            <a:tbl>
              <a:tblPr/>
              <a:tblGrid>
                <a:gridCol w="3622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2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9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50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Fase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Entregable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Estado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6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Fase 1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Guías 1.1, 1.2, 1.3, 1.5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 Completado</a:t>
                      </a:r>
                      <a:endParaRPr lang="en-US" sz="1450" dirty="0">
                        <a:latin typeface="Twemoji Mozilla, Apple Color Emoji, Segoe UI Emoji, Segoe UI Symbol, Noto Color Emoji, EmojiOne Color, Android Emoji, sans-serif" charset="0"/>
                        <a:ea typeface="Twemoji Mozilla, Apple Color Emoji, Segoe UI Emoji, Segoe UI Symbol, Noto Color Emoji, EmojiOne Color, Android Emoji, sans-serif" charset="0"/>
                        <a:cs typeface="Twemoji Mozilla, Apple Color Emoji, Segoe UI Emoji, Segoe UI Symbol, Noto Color Emoji, EmojiOne Color, Android Emoji, sans-serif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6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Fase 1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Presentación y evaluación (1.4)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 Completado</a:t>
                      </a:r>
                      <a:endParaRPr lang="en-US" sz="1450" dirty="0">
                        <a:latin typeface="Twemoji Mozilla, Apple Color Emoji, Segoe UI Emoji, Segoe UI Symbol, Noto Color Emoji, EmojiOne Color, Android Emoji, sans-serif" charset="0"/>
                        <a:ea typeface="Twemoji Mozilla, Apple Color Emoji, Segoe UI Emoji, Segoe UI Symbol, Noto Color Emoji, EmojiOne Color, Android Emoji, sans-serif" charset="0"/>
                        <a:cs typeface="Twemoji Mozilla, Apple Color Emoji, Segoe UI Emoji, Segoe UI Symbol, Noto Color Emoji, EmojiOne Color, Android Emoji, sans-serif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36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Fase 2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Código en GitHub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 En desarrollo</a:t>
                      </a:r>
                      <a:endParaRPr lang="en-US" sz="1450" dirty="0">
                        <a:latin typeface="Twemoji Mozilla, Apple Color Emoji, Segoe UI Emoji, Segoe UI Symbol, Noto Color Emoji, EmojiOne Color, Android Emoji, sans-serif" charset="0"/>
                        <a:ea typeface="Twemoji Mozilla, Apple Color Emoji, Segoe UI Emoji, Segoe UI Symbol, Noto Color Emoji, EmojiOne Color, Android Emoji, sans-serif" charset="0"/>
                        <a:cs typeface="Twemoji Mozilla, Apple Color Emoji, Segoe UI Emoji, Segoe UI Symbol, Noto Color Emoji, EmojiOne Color, Android Emoji, sans-serif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04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Fase 3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Defensa final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 Pendiente</a:t>
                      </a:r>
                      <a:endParaRPr lang="en-US" sz="1450" dirty="0">
                        <a:latin typeface="Twemoji Mozilla, Apple Color Emoji, Segoe UI Emoji, Segoe UI Symbol, Noto Color Emoji, EmojiOne Color, Android Emoji, sans-serif" charset="0"/>
                        <a:ea typeface="Twemoji Mozilla, Apple Color Emoji, Segoe UI Emoji, Segoe UI Symbol, Noto Color Emoji, EmojiOne Color, Android Emoji, sans-serif" charset="0"/>
                        <a:cs typeface="Twemoji Mozilla, Apple Color Emoji, Segoe UI Emoji, Segoe UI Symbol, Noto Color Emoji, EmojiOne Color, Android Emoji, sans-serif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6338"/>
            <a:ext cx="5218280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Gestión de Riesgo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661475" y="1426170"/>
            <a:ext cx="5218280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Cada riesgo identificado cuenta con una estrategia de mitigación técnica o de gestión integrada al ciclo de desarrollo.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18290" y="727075"/>
          <a:ext cx="5218281" cy="5391015"/>
        </p:xfrm>
        <a:graphic>
          <a:graphicData uri="http://schemas.openxmlformats.org/drawingml/2006/table">
            <a:tbl>
              <a:tblPr/>
              <a:tblGrid>
                <a:gridCol w="17394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94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5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Riesgo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Impacto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Mitigación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11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Pérdida de conectividad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Alto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Persistencia local SQLite3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58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Fallo de sensores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Alto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Simulador IoT + pruebas independientes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04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Datos insuficientes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Alto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Datos simulados y escenarios controlados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58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Falsos positivos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Alto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Ajuste y evaluación del algoritmo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11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Alta carga académica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Medio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Priorización del backlog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25959"/>
            <a:ext cx="6296860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¿Por Qué DomoVida?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33360" y="1311374"/>
            <a:ext cx="3068065" cy="1533029"/>
          </a:xfrm>
          <a:prstGeom prst="roundRect">
            <a:avLst>
              <a:gd name="adj" fmla="val 477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5413934" y="1491952"/>
            <a:ext cx="270691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HL7 FHIR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13934" y="1860451"/>
            <a:ext cx="2706917" cy="803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Datos estructurados y preparados para interoperabilidad futura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462056" y="1311374"/>
            <a:ext cx="3068164" cy="1533029"/>
          </a:xfrm>
          <a:prstGeom prst="roundRect">
            <a:avLst>
              <a:gd name="adj" fmla="val 477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8642630" y="1491952"/>
            <a:ext cx="270701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Edge Computing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42630" y="1860451"/>
            <a:ext cx="2707017" cy="803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Procesamiento local y continuidad ante interrupciones de conectividad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233360" y="3005038"/>
            <a:ext cx="6296860" cy="997446"/>
          </a:xfrm>
          <a:prstGeom prst="roundRect">
            <a:avLst>
              <a:gd name="adj" fmla="val 7337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8"/>
          <p:cNvSpPr/>
          <p:nvPr/>
        </p:nvSpPr>
        <p:spPr>
          <a:xfrm>
            <a:off x="5413934" y="3185616"/>
            <a:ext cx="5935712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Código Abierto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5413934" y="3554115"/>
            <a:ext cx="5935712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Arquitectura auditable, extensible y transparente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233360" y="4183162"/>
            <a:ext cx="6296860" cy="1071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i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QUIDA es la solución académica y no invasiva que cuida sin cámaras ni dispositivos.</a:t>
            </a:r>
            <a:endParaRPr lang="en-US" sz="1350" dirty="0"/>
          </a:p>
          <a:p>
            <a:pPr marL="0" indent="0" algn="l">
              <a:lnSpc>
                <a:spcPct val="128000"/>
              </a:lnSpc>
              <a:buNone/>
            </a:pPr>
            <a:r>
              <a:rPr lang="en-US" sz="1350" i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Mis Tatas es la solución comercial con acompañamiento humano y central de monitoreo 24/7.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494696" y="5615682"/>
            <a:ext cx="6035524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DomoVida busca complementar, no reemplazar, las soluciones existentes.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233360" y="5435005"/>
            <a:ext cx="19050" cy="896938"/>
          </a:xfrm>
          <a:prstGeom prst="roundRect">
            <a:avLst>
              <a:gd name="adj" fmla="val 49999"/>
            </a:avLst>
          </a:prstGeom>
          <a:solidFill>
            <a:srgbClr val="437066"/>
          </a:solidFill>
          <a:ln/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32507"/>
            <a:ext cx="6296860" cy="507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Cierre y Proyección</a:t>
            </a:r>
            <a:endParaRPr lang="en-US" sz="3150" dirty="0"/>
          </a:p>
        </p:txBody>
      </p:sp>
      <p:sp>
        <p:nvSpPr>
          <p:cNvPr id="4" name="Text 1"/>
          <p:cNvSpPr/>
          <p:nvPr/>
        </p:nvSpPr>
        <p:spPr>
          <a:xfrm>
            <a:off x="5233360" y="1249462"/>
            <a:ext cx="6296860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DomoVida es mi respuesta a cómo la tecnología puede cuidar sin molestar, anticipar sin alarmar y estar presente sin ser invasiva.</a:t>
            </a:r>
            <a:endParaRPr lang="en-US" sz="12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1889621"/>
            <a:ext cx="406092" cy="40610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233360" y="2470150"/>
            <a:ext cx="6296860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Validación</a:t>
            </a:r>
            <a:endParaRPr lang="en-US" sz="1550" dirty="0"/>
          </a:p>
        </p:txBody>
      </p:sp>
      <p:sp>
        <p:nvSpPr>
          <p:cNvPr id="7" name="Text 3"/>
          <p:cNvSpPr/>
          <p:nvPr/>
        </p:nvSpPr>
        <p:spPr>
          <a:xfrm>
            <a:off x="5233360" y="2807692"/>
            <a:ext cx="62968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Pilotaje técnico y evaluación con usuarios en contexto controlado</a:t>
            </a:r>
            <a:endParaRPr lang="en-US" sz="12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3328392"/>
            <a:ext cx="406092" cy="40610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233360" y="3908921"/>
            <a:ext cx="6296860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Proyección</a:t>
            </a:r>
            <a:endParaRPr lang="en-US" sz="1550" dirty="0"/>
          </a:p>
        </p:txBody>
      </p:sp>
      <p:sp>
        <p:nvSpPr>
          <p:cNvPr id="10" name="Text 5"/>
          <p:cNvSpPr/>
          <p:nvPr/>
        </p:nvSpPr>
        <p:spPr>
          <a:xfrm>
            <a:off x="5233360" y="4246463"/>
            <a:ext cx="62968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Postulación futura a instrumentos de financiamiento como Corfo y Sercotec</a:t>
            </a:r>
            <a:endParaRPr lang="en-US" sz="12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3360" y="4767163"/>
            <a:ext cx="406092" cy="40610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233360" y="5347692"/>
            <a:ext cx="6296860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Vinculación</a:t>
            </a:r>
            <a:endParaRPr lang="en-US" sz="1550" dirty="0"/>
          </a:p>
        </p:txBody>
      </p:sp>
      <p:sp>
        <p:nvSpPr>
          <p:cNvPr id="13" name="Text 7"/>
          <p:cNvSpPr/>
          <p:nvPr/>
        </p:nvSpPr>
        <p:spPr>
          <a:xfrm>
            <a:off x="5233360" y="5685234"/>
            <a:ext cx="62968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Explorar alianzas con actores del ecosistema de envejecimiento y salud digital</a:t>
            </a:r>
            <a:endParaRPr lang="en-US" sz="1250" dirty="0"/>
          </a:p>
        </p:txBody>
      </p:sp>
      <p:sp>
        <p:nvSpPr>
          <p:cNvPr id="14" name="Text 8"/>
          <p:cNvSpPr/>
          <p:nvPr/>
        </p:nvSpPr>
        <p:spPr>
          <a:xfrm>
            <a:off x="5233360" y="6083796"/>
            <a:ext cx="6906444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Un guardián inteligente y silencioso para el bienestar en el hogar.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2658</TotalTime>
  <Words>739</Words>
  <Application>Microsoft Office PowerPoint</Application>
  <PresentationFormat>Panorámica</PresentationFormat>
  <Paragraphs>153</Paragraphs>
  <Slides>13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Twemoji Mozilla, Apple Color Emoji, Segoe UI Emoji, Segoe UI Symbol, Noto Color Emoji, EmojiOne Color, Android Emoji, sans-serif</vt:lpstr>
      <vt:lpstr>Kanit Light</vt:lpstr>
      <vt:lpstr>Martel Sans</vt:lpstr>
      <vt:lpstr>Martel Sans Bold</vt:lpstr>
      <vt:lpstr>Arial</vt:lpstr>
      <vt:lpstr>Kanit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Andres Rodrigo Vergara Acevedo</cp:lastModifiedBy>
  <cp:revision>1</cp:revision>
  <dcterms:created xsi:type="dcterms:W3CDTF">2026-09-02T17:00:24Z</dcterms:created>
  <dcterms:modified xsi:type="dcterms:W3CDTF">2026-09-18T13:04:58Z</dcterms:modified>
</cp:coreProperties>
</file>